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sldIdLst>
    <p:sldId id="256" r:id="rId2"/>
    <p:sldId id="257" r:id="rId3"/>
    <p:sldId id="266" r:id="rId4"/>
    <p:sldId id="267" r:id="rId5"/>
    <p:sldId id="258" r:id="rId6"/>
    <p:sldId id="259" r:id="rId7"/>
    <p:sldId id="260" r:id="rId8"/>
    <p:sldId id="275" r:id="rId9"/>
    <p:sldId id="261" r:id="rId10"/>
    <p:sldId id="276" r:id="rId11"/>
    <p:sldId id="262" r:id="rId12"/>
    <p:sldId id="263" r:id="rId13"/>
    <p:sldId id="264" r:id="rId14"/>
    <p:sldId id="265" r:id="rId15"/>
    <p:sldId id="271" r:id="rId16"/>
    <p:sldId id="272" r:id="rId17"/>
    <p:sldId id="273" r:id="rId18"/>
    <p:sldId id="277" r:id="rId19"/>
    <p:sldId id="274" r:id="rId20"/>
    <p:sldId id="269" r:id="rId21"/>
    <p:sldId id="278" r:id="rId22"/>
    <p:sldId id="268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930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5602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427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7176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336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479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61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492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260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76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495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68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7702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0103" y="2271252"/>
            <a:ext cx="7786657" cy="2053859"/>
          </a:xfrm>
        </p:spPr>
        <p:txBody>
          <a:bodyPr>
            <a:normAutofit/>
          </a:bodyPr>
          <a:lstStyle/>
          <a:p>
            <a:r>
              <a:rPr sz="6000" dirty="0"/>
              <a:t>Website and App Analytics Using Power BI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4455621"/>
            <a:ext cx="4038600" cy="1143000"/>
          </a:xfrm>
        </p:spPr>
        <p:txBody>
          <a:bodyPr>
            <a:normAutofit fontScale="40000" lnSpcReduction="20000"/>
          </a:bodyPr>
          <a:lstStyle/>
          <a:p>
            <a:r>
              <a:rPr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</a:t>
            </a:r>
            <a:endParaRPr lang="en-IN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 : pearl , </a:t>
            </a:r>
            <a:r>
              <a:rPr lang="en-IN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riddhi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mehak</a:t>
            </a:r>
            <a:endParaRPr lang="en-IN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 : </a:t>
            </a:r>
            <a:r>
              <a:rPr lang="en-IN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Ashish Rajput</a:t>
            </a:r>
          </a:p>
          <a:p>
            <a:endParaRPr dirty="0"/>
          </a:p>
        </p:txBody>
      </p:sp>
      <p:pic>
        <p:nvPicPr>
          <p:cNvPr id="6146" name="Picture 2" descr="Professional Women Clip Art Business Icon Woman | Great PowerPoint">
            <a:extLst>
              <a:ext uri="{FF2B5EF4-FFF2-40B4-BE49-F238E27FC236}">
                <a16:creationId xmlns:a16="http://schemas.microsoft.com/office/drawing/2014/main" id="{052E1F48-034B-1E1E-B0DB-44FC77404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335" y="4455621"/>
            <a:ext cx="1541207" cy="1541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EE4AB3-72C5-4B99-962B-AF0193A1C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335" y="-107499"/>
            <a:ext cx="2930013" cy="27337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Websites and mobile applications generate huge amounts of user data every day.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this data helps organizations improve user experience and business performance.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Power BI to analyze website and app data.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 are created to visualize trends and key metrics.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6" name="Picture 4" descr="Data Visualization with Power BI: Best Practices and Tips">
            <a:extLst>
              <a:ext uri="{FF2B5EF4-FFF2-40B4-BE49-F238E27FC236}">
                <a16:creationId xmlns:a16="http://schemas.microsoft.com/office/drawing/2014/main" id="{88D9C6C9-53B4-48B1-C193-B1F267528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87" y="4251223"/>
            <a:ext cx="8908026" cy="1952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70E41-1FA1-5E65-7EEB-3B947ABC3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CF843-F227-A53B-4063-7BE55203B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collect large amounts of website and app data.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customer behavior and engagement is difficult.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performance manually is time-consuming.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need a single platform to monitor important metrics.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insights are required for effective decision-making.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Device Icons, Smart Phone, Tablet, Laptop and Desktop Computer. Stock ...">
            <a:extLst>
              <a:ext uri="{FF2B5EF4-FFF2-40B4-BE49-F238E27FC236}">
                <a16:creationId xmlns:a16="http://schemas.microsoft.com/office/drawing/2014/main" id="{7506222F-256C-7BB5-6C18-FBEC31788E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616" b="20454"/>
          <a:stretch>
            <a:fillRect/>
          </a:stretch>
        </p:blipFill>
        <p:spPr bwMode="auto">
          <a:xfrm>
            <a:off x="1986116" y="4127975"/>
            <a:ext cx="4807974" cy="2115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3452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24327-F964-E4EF-2E6A-103AFBA5C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2994" y="286604"/>
            <a:ext cx="6783766" cy="1450757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AC157-6231-5BAE-AFEE-A9A3A68B0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845734"/>
            <a:ext cx="7543801" cy="40233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1: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Website and App Data Structure and Key Performance Metrics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2: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Pre-process and Clean the Data for Accurate Analysis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3: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Data Models and Establish Relationships Between Tables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4: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Calculated Fields and DAX Measures to Support Analysis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5: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User Behaviour and Website/App Performance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6: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Visualizations to Identify Trends and Patterns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7: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Interactive Reports and Dashboards for Decision-Making</a:t>
            </a:r>
          </a:p>
        </p:txBody>
      </p:sp>
      <p:pic>
        <p:nvPicPr>
          <p:cNvPr id="5124" name="Picture 4" descr="Businesswoman Think A Idea Icon In Blue And Orange Color. 24197409 ...">
            <a:extLst>
              <a:ext uri="{FF2B5EF4-FFF2-40B4-BE49-F238E27FC236}">
                <a16:creationId xmlns:a16="http://schemas.microsoft.com/office/drawing/2014/main" id="{62DB4E7A-28A2-6B52-BF8F-9F0EFCD17C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>
            <a:fillRect/>
          </a:stretch>
        </p:blipFill>
        <p:spPr bwMode="auto">
          <a:xfrm>
            <a:off x="502315" y="263527"/>
            <a:ext cx="1080679" cy="1450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5703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1: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Website and App Data Structure and Key Performance Metrics 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8A18E33-1CE3-767B-304A-0298AA40EB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804073"/>
              </p:ext>
            </p:extLst>
          </p:nvPr>
        </p:nvGraphicFramePr>
        <p:xfrm>
          <a:off x="3097161" y="1846263"/>
          <a:ext cx="5407743" cy="4217828"/>
        </p:xfrm>
        <a:graphic>
          <a:graphicData uri="http://schemas.openxmlformats.org/drawingml/2006/table">
            <a:tbl>
              <a:tblPr/>
              <a:tblGrid>
                <a:gridCol w="1802581">
                  <a:extLst>
                    <a:ext uri="{9D8B030D-6E8A-4147-A177-3AD203B41FA5}">
                      <a16:colId xmlns:a16="http://schemas.microsoft.com/office/drawing/2014/main" val="1407733520"/>
                    </a:ext>
                  </a:extLst>
                </a:gridCol>
                <a:gridCol w="1802581">
                  <a:extLst>
                    <a:ext uri="{9D8B030D-6E8A-4147-A177-3AD203B41FA5}">
                      <a16:colId xmlns:a16="http://schemas.microsoft.com/office/drawing/2014/main" val="2334504274"/>
                    </a:ext>
                  </a:extLst>
                </a:gridCol>
                <a:gridCol w="1802581">
                  <a:extLst>
                    <a:ext uri="{9D8B030D-6E8A-4147-A177-3AD203B41FA5}">
                      <a16:colId xmlns:a16="http://schemas.microsoft.com/office/drawing/2014/main" val="1247945706"/>
                    </a:ext>
                  </a:extLst>
                </a:gridCol>
              </a:tblGrid>
              <a:tr h="268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Tasks Performed</a:t>
                      </a:r>
                      <a:endParaRPr lang="en-IN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BI Features Used</a:t>
                      </a:r>
                      <a:endParaRPr lang="en-IN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110659"/>
                  </a:ext>
                </a:extLst>
              </a:tr>
              <a:tr h="871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Datasets and Data Sources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Examined available datasets and understood their structure and content.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View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422733"/>
                  </a:ext>
                </a:extLst>
              </a:tr>
              <a:tr h="871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Identify Key Fields and KPIs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Determined important metrics such as users, sessions, page views, and conversions.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Profiling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709806"/>
                  </a:ext>
                </a:extLst>
              </a:tr>
              <a:tr h="670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User and Traffic Data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Analyzed user, session, traffic, and engagement-related information.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Summary Statistics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140388"/>
                  </a:ext>
                </a:extLst>
              </a:tr>
              <a:tr h="670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Explore Data Categories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Studied different attributes and their relationships.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Filters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336074"/>
                  </a:ext>
                </a:extLst>
              </a:tr>
              <a:tr h="670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Business Requirements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Identified analytical requirements and reporting needs.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View, Filters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45086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F123938-CE3E-B81B-4C0D-37256E721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42908"/>
            <a:ext cx="1866900" cy="3409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2: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Pre-process and Clean the Data for Accurate Analysis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C67ADD-9B3C-2DBC-85D9-D58B7F5110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1288182"/>
              </p:ext>
            </p:extLst>
          </p:nvPr>
        </p:nvGraphicFramePr>
        <p:xfrm>
          <a:off x="1946788" y="1874889"/>
          <a:ext cx="5633882" cy="4022724"/>
        </p:xfrm>
        <a:graphic>
          <a:graphicData uri="http://schemas.openxmlformats.org/drawingml/2006/table">
            <a:tbl>
              <a:tblPr/>
              <a:tblGrid>
                <a:gridCol w="1753945">
                  <a:extLst>
                    <a:ext uri="{9D8B030D-6E8A-4147-A177-3AD203B41FA5}">
                      <a16:colId xmlns:a16="http://schemas.microsoft.com/office/drawing/2014/main" val="550372306"/>
                    </a:ext>
                  </a:extLst>
                </a:gridCol>
                <a:gridCol w="2001976">
                  <a:extLst>
                    <a:ext uri="{9D8B030D-6E8A-4147-A177-3AD203B41FA5}">
                      <a16:colId xmlns:a16="http://schemas.microsoft.com/office/drawing/2014/main" val="3116714439"/>
                    </a:ext>
                  </a:extLst>
                </a:gridCol>
                <a:gridCol w="1877961">
                  <a:extLst>
                    <a:ext uri="{9D8B030D-6E8A-4147-A177-3AD203B41FA5}">
                      <a16:colId xmlns:a16="http://schemas.microsoft.com/office/drawing/2014/main" val="2846508853"/>
                    </a:ext>
                  </a:extLst>
                </a:gridCol>
              </a:tblGrid>
              <a:tr h="268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Tasks Performed</a:t>
                      </a:r>
                      <a:endParaRPr lang="en-IN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BI Features Used</a:t>
                      </a:r>
                      <a:endParaRPr lang="en-IN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156068"/>
                  </a:ext>
                </a:extLst>
              </a:tr>
              <a:tr h="871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for Missing Values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Identified and handled missing or null values to ensure data completeness.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Query Editor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801773"/>
                  </a:ext>
                </a:extLst>
              </a:tr>
              <a:tr h="670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 Duplicate Records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Eliminated duplicate entries to maintain data accuracy.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 Duplicates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982222"/>
                  </a:ext>
                </a:extLst>
              </a:tr>
              <a:tr h="670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Handle Data Inconsistencies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Corrected inconsistent values and standardized formats.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Replace Values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594968"/>
                  </a:ext>
                </a:extLst>
              </a:tr>
              <a:tr h="670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Correct Data Types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Assigned appropriate data types to columns for accurate analysis.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Type Conversion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749843"/>
                  </a:ext>
                </a:extLst>
              </a:tr>
              <a:tr h="871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 and Standardize Data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and standardized data according to business requirements.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Conditional Columns, Power Query Editor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730436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8AA3B77C-9442-1A0A-F3F8-2789ED278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10" y="1846263"/>
            <a:ext cx="1546994" cy="23195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E2480E-9D9C-C01F-21AD-DE1F4CF4B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851" y="2042909"/>
            <a:ext cx="1546994" cy="34520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1AB2E0-B763-7ED4-959D-3EEACEF904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811" y="4299987"/>
            <a:ext cx="1546994" cy="19966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3: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Data Models and Establish Relationships Between Tables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BEA242-1E74-8F8B-CA2A-6D36C341CD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8330808"/>
              </p:ext>
            </p:extLst>
          </p:nvPr>
        </p:nvGraphicFramePr>
        <p:xfrm>
          <a:off x="822960" y="1737361"/>
          <a:ext cx="4555284" cy="4508759"/>
        </p:xfrm>
        <a:graphic>
          <a:graphicData uri="http://schemas.openxmlformats.org/drawingml/2006/table">
            <a:tbl>
              <a:tblPr/>
              <a:tblGrid>
                <a:gridCol w="1518428">
                  <a:extLst>
                    <a:ext uri="{9D8B030D-6E8A-4147-A177-3AD203B41FA5}">
                      <a16:colId xmlns:a16="http://schemas.microsoft.com/office/drawing/2014/main" val="3881868283"/>
                    </a:ext>
                  </a:extLst>
                </a:gridCol>
                <a:gridCol w="1518428">
                  <a:extLst>
                    <a:ext uri="{9D8B030D-6E8A-4147-A177-3AD203B41FA5}">
                      <a16:colId xmlns:a16="http://schemas.microsoft.com/office/drawing/2014/main" val="1408266297"/>
                    </a:ext>
                  </a:extLst>
                </a:gridCol>
                <a:gridCol w="1518428">
                  <a:extLst>
                    <a:ext uri="{9D8B030D-6E8A-4147-A177-3AD203B41FA5}">
                      <a16:colId xmlns:a16="http://schemas.microsoft.com/office/drawing/2014/main" val="540329437"/>
                    </a:ext>
                  </a:extLst>
                </a:gridCol>
              </a:tblGrid>
              <a:tr h="370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Tasks Performed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BI Features Used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4264846"/>
                  </a:ext>
                </a:extLst>
              </a:tr>
              <a:tr h="680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 Related Tables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Linked tables containing user, session, traffic, and engagement data.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Relationship View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532737"/>
                  </a:ext>
                </a:extLst>
              </a:tr>
              <a:tr h="885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Define Primary and Foreign Keys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Established key relationships to ensure data integrity and consistency.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 Relationships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375741"/>
                  </a:ext>
                </a:extLst>
              </a:tr>
              <a:tr h="680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 a Structured Data Model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Organized data into a logical and efficient structure for analysis.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Modelling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282900"/>
                  </a:ext>
                </a:extLst>
              </a:tr>
              <a:tr h="680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 Star Schema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Designed a star schema to optimize performance and simplify reporting.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 Schema Concepts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863477"/>
                  </a:ext>
                </a:extLst>
              </a:tr>
              <a:tr h="912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 Relationships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Verified relationship accuracy to ensure reliable calculations and insights.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Relationship View, Manage Relationships</a:t>
                      </a:r>
                    </a:p>
                  </a:txBody>
                  <a:tcPr marL="67045" marR="67045" marT="33523" marB="335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84650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5A98EFA-681F-EFD4-60DA-23B6DA64D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032924" y="2784222"/>
            <a:ext cx="4450260" cy="24150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3600CF-76D7-1CAA-A70E-16002EEB3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07" y="727586"/>
            <a:ext cx="8589270" cy="50048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E6C498-DCF5-6A0B-8BB7-686C22D48CDD}"/>
              </a:ext>
            </a:extLst>
          </p:cNvPr>
          <p:cNvSpPr txBox="1"/>
          <p:nvPr/>
        </p:nvSpPr>
        <p:spPr>
          <a:xfrm>
            <a:off x="3357717" y="5764054"/>
            <a:ext cx="25711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Modelling View</a:t>
            </a:r>
          </a:p>
        </p:txBody>
      </p:sp>
    </p:spTree>
    <p:extLst>
      <p:ext uri="{BB962C8B-B14F-4D97-AF65-F5344CB8AC3E}">
        <p14:creationId xmlns:p14="http://schemas.microsoft.com/office/powerpoint/2010/main" val="1061947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4: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Calculated Fields and DAX Measures to Support Analysis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F85B168-B060-EAB7-2BCD-260388BA73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5117056"/>
              </p:ext>
            </p:extLst>
          </p:nvPr>
        </p:nvGraphicFramePr>
        <p:xfrm>
          <a:off x="1415846" y="1817372"/>
          <a:ext cx="6441570" cy="4048970"/>
        </p:xfrm>
        <a:graphic>
          <a:graphicData uri="http://schemas.openxmlformats.org/drawingml/2006/table">
            <a:tbl>
              <a:tblPr/>
              <a:tblGrid>
                <a:gridCol w="2147190">
                  <a:extLst>
                    <a:ext uri="{9D8B030D-6E8A-4147-A177-3AD203B41FA5}">
                      <a16:colId xmlns:a16="http://schemas.microsoft.com/office/drawing/2014/main" val="4009290121"/>
                    </a:ext>
                  </a:extLst>
                </a:gridCol>
                <a:gridCol w="2147190">
                  <a:extLst>
                    <a:ext uri="{9D8B030D-6E8A-4147-A177-3AD203B41FA5}">
                      <a16:colId xmlns:a16="http://schemas.microsoft.com/office/drawing/2014/main" val="2417991942"/>
                    </a:ext>
                  </a:extLst>
                </a:gridCol>
                <a:gridCol w="2147190">
                  <a:extLst>
                    <a:ext uri="{9D8B030D-6E8A-4147-A177-3AD203B41FA5}">
                      <a16:colId xmlns:a16="http://schemas.microsoft.com/office/drawing/2014/main" val="2974595844"/>
                    </a:ext>
                  </a:extLst>
                </a:gridCol>
              </a:tblGrid>
              <a:tr h="255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Tasks Performed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853" marR="63853" marT="31926" marB="31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853" marR="63853" marT="31926" marB="31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BI Features Used</a:t>
                      </a:r>
                      <a:endParaRPr lang="en-IN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853" marR="63853" marT="31926" marB="31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369788"/>
                  </a:ext>
                </a:extLst>
              </a:tr>
              <a:tr h="830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 Custom Columns</a:t>
                      </a:r>
                    </a:p>
                  </a:txBody>
                  <a:tcPr marL="63853" marR="63853" marT="31926" marB="31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Added custom columns to derive additional information from existing data.</a:t>
                      </a:r>
                    </a:p>
                  </a:txBody>
                  <a:tcPr marL="63853" marR="63853" marT="31926" marB="31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Columns</a:t>
                      </a:r>
                    </a:p>
                  </a:txBody>
                  <a:tcPr marL="63853" marR="63853" marT="31926" marB="31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735050"/>
                  </a:ext>
                </a:extLst>
              </a:tr>
              <a:tr h="638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 Calculated Columns</a:t>
                      </a:r>
                    </a:p>
                  </a:txBody>
                  <a:tcPr marL="63853" marR="63853" marT="31926" marB="31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Generated calculated columns to support business analysis.</a:t>
                      </a:r>
                    </a:p>
                  </a:txBody>
                  <a:tcPr marL="63853" marR="63853" marT="31926" marB="31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Calculated Columns</a:t>
                      </a:r>
                    </a:p>
                  </a:txBody>
                  <a:tcPr marL="63853" marR="63853" marT="31926" marB="31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2624150"/>
                  </a:ext>
                </a:extLst>
              </a:tr>
              <a:tr h="830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KPIs and Metrics</a:t>
                      </a:r>
                    </a:p>
                  </a:txBody>
                  <a:tcPr marL="63853" marR="63853" marT="31926" marB="31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Created key performance indicators for monitoring website and app performance.</a:t>
                      </a:r>
                    </a:p>
                  </a:txBody>
                  <a:tcPr marL="63853" marR="63853" marT="31926" marB="31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DAX Functions</a:t>
                      </a:r>
                    </a:p>
                  </a:txBody>
                  <a:tcPr marL="63853" marR="63853" marT="31926" marB="31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788478"/>
                  </a:ext>
                </a:extLst>
              </a:tr>
              <a:tr h="830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Calculate Business Metrics</a:t>
                      </a:r>
                    </a:p>
                  </a:txBody>
                  <a:tcPr marL="63853" marR="63853" marT="31926" marB="31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Computed metrics such as session duration, bounce rate, and conversion rate.</a:t>
                      </a:r>
                    </a:p>
                  </a:txBody>
                  <a:tcPr marL="63853" marR="63853" marT="31926" marB="31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COUNT(), DISTINCTCOUNT(), SUM(), DIVIDE()</a:t>
                      </a:r>
                    </a:p>
                  </a:txBody>
                  <a:tcPr marL="63853" marR="63853" marT="31926" marB="31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3293219"/>
                  </a:ext>
                </a:extLst>
              </a:tr>
              <a:tr h="638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 Conditional Logic</a:t>
                      </a:r>
                    </a:p>
                  </a:txBody>
                  <a:tcPr marL="63853" marR="63853" marT="31926" marB="31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logical conditions to categorize and analyze data effectively.</a:t>
                      </a:r>
                    </a:p>
                  </a:txBody>
                  <a:tcPr marL="63853" marR="63853" marT="31926" marB="31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IF()</a:t>
                      </a:r>
                    </a:p>
                  </a:txBody>
                  <a:tcPr marL="63853" marR="63853" marT="31926" marB="31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118972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F3194-E541-9BF5-E4E4-927C592AA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7433186" y="43265"/>
            <a:ext cx="933573" cy="243340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30B009-1829-3EBD-C956-8633A5DC79F7}"/>
              </a:ext>
            </a:extLst>
          </p:cNvPr>
          <p:cNvSpPr txBox="1"/>
          <p:nvPr/>
        </p:nvSpPr>
        <p:spPr>
          <a:xfrm>
            <a:off x="2541639" y="86931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Total Users =</a:t>
            </a:r>
          </a:p>
          <a:p>
            <a:r>
              <a:rPr lang="en-US" dirty="0"/>
              <a:t>DISTINCTCOUNT(Users[</a:t>
            </a:r>
            <a:r>
              <a:rPr lang="en-US" dirty="0" err="1"/>
              <a:t>User_ID</a:t>
            </a:r>
            <a:r>
              <a:rPr lang="en-US" dirty="0"/>
              <a:t>])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5893DC-C306-8710-64F3-24140F0FC54E}"/>
              </a:ext>
            </a:extLst>
          </p:cNvPr>
          <p:cNvSpPr txBox="1"/>
          <p:nvPr/>
        </p:nvSpPr>
        <p:spPr>
          <a:xfrm>
            <a:off x="2419488" y="2038137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New Users =CALCULATE(COUNTROWS(Users),</a:t>
            </a:r>
          </a:p>
          <a:p>
            <a:r>
              <a:rPr lang="en-US" dirty="0"/>
              <a:t>Users[</a:t>
            </a:r>
            <a:r>
              <a:rPr lang="en-US" dirty="0" err="1"/>
              <a:t>User_Type</a:t>
            </a:r>
            <a:r>
              <a:rPr lang="en-US" dirty="0"/>
              <a:t>]="New")</a:t>
            </a:r>
            <a:endParaRPr lang="en-IN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12D6B64-57C4-0467-DF4A-929288CB41B6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 flipV="1">
            <a:off x="8366760" y="1737361"/>
            <a:ext cx="2134092" cy="108373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EA1273-EBF4-6BC8-966D-70DDC045507C}"/>
              </a:ext>
            </a:extLst>
          </p:cNvPr>
          <p:cNvSpPr txBox="1"/>
          <p:nvPr/>
        </p:nvSpPr>
        <p:spPr>
          <a:xfrm>
            <a:off x="918218" y="3276600"/>
            <a:ext cx="688859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Total Purchases </a:t>
            </a:r>
            <a:r>
              <a:rPr lang="en-US" dirty="0"/>
              <a:t>= SUM(Conversions[</a:t>
            </a:r>
            <a:r>
              <a:rPr lang="en-US" dirty="0" err="1"/>
              <a:t>Purchase_Flag</a:t>
            </a:r>
            <a:r>
              <a:rPr lang="en-US" dirty="0"/>
              <a:t>])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Total Users </a:t>
            </a:r>
            <a:r>
              <a:rPr lang="en-US" dirty="0"/>
              <a:t>=DISTINCTCOUNT(Users[</a:t>
            </a:r>
            <a:r>
              <a:rPr lang="en-US" dirty="0" err="1"/>
              <a:t>User_ID</a:t>
            </a:r>
            <a:r>
              <a:rPr lang="en-US" dirty="0"/>
              <a:t>])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Total Sessions </a:t>
            </a:r>
            <a:r>
              <a:rPr lang="en-US" dirty="0"/>
              <a:t>=DISTINCTCOUNT(Sessions[</a:t>
            </a:r>
            <a:r>
              <a:rPr lang="en-US" dirty="0" err="1"/>
              <a:t>Session_ID</a:t>
            </a:r>
            <a:r>
              <a:rPr lang="en-US" dirty="0"/>
              <a:t>])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Page Views </a:t>
            </a:r>
            <a:r>
              <a:rPr lang="en-IN" dirty="0"/>
              <a:t>= COUNT(Activity[</a:t>
            </a:r>
            <a:r>
              <a:rPr lang="en-IN" dirty="0" err="1"/>
              <a:t>Page_ID</a:t>
            </a:r>
            <a:r>
              <a:rPr lang="en-IN" dirty="0"/>
              <a:t>])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 err="1"/>
              <a:t>Avg</a:t>
            </a:r>
            <a:r>
              <a:rPr lang="en-IN" b="1" dirty="0"/>
              <a:t> Session Duration </a:t>
            </a:r>
            <a:r>
              <a:rPr lang="en-IN" dirty="0"/>
              <a:t>= AVERAGE(Sessions[Duration])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New Users </a:t>
            </a:r>
            <a:r>
              <a:rPr lang="en-IN" dirty="0"/>
              <a:t>= CALCULATE( COUNTROWS(Users),Users[</a:t>
            </a:r>
            <a:r>
              <a:rPr lang="en-IN" dirty="0" err="1"/>
              <a:t>User_Type</a:t>
            </a:r>
            <a:r>
              <a:rPr lang="en-IN" dirty="0"/>
              <a:t>]="New")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Returning Users </a:t>
            </a:r>
            <a:r>
              <a:rPr lang="en-IN" dirty="0"/>
              <a:t>= CALCULATE( COUNTROWS(Users), Users[</a:t>
            </a:r>
            <a:r>
              <a:rPr lang="en-IN" dirty="0" err="1"/>
              <a:t>User_Type</a:t>
            </a:r>
            <a:r>
              <a:rPr lang="en-IN" dirty="0"/>
              <a:t>]="Returning" )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3DBAFAB-38C9-9708-1F47-EA030E07F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218" y="1931794"/>
            <a:ext cx="1463167" cy="104403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1C2D6E6-B1ED-AA31-B53F-72A8783AB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218" y="647607"/>
            <a:ext cx="1501270" cy="108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309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5: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Website/App Performance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5960A91-B7A6-5F18-E536-54DD30094F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2713550"/>
              </p:ext>
            </p:extLst>
          </p:nvPr>
        </p:nvGraphicFramePr>
        <p:xfrm>
          <a:off x="393290" y="1846263"/>
          <a:ext cx="8386917" cy="3984264"/>
        </p:xfrm>
        <a:graphic>
          <a:graphicData uri="http://schemas.openxmlformats.org/drawingml/2006/table">
            <a:tbl>
              <a:tblPr/>
              <a:tblGrid>
                <a:gridCol w="2795639">
                  <a:extLst>
                    <a:ext uri="{9D8B030D-6E8A-4147-A177-3AD203B41FA5}">
                      <a16:colId xmlns:a16="http://schemas.microsoft.com/office/drawing/2014/main" val="4089954507"/>
                    </a:ext>
                  </a:extLst>
                </a:gridCol>
                <a:gridCol w="2795639">
                  <a:extLst>
                    <a:ext uri="{9D8B030D-6E8A-4147-A177-3AD203B41FA5}">
                      <a16:colId xmlns:a16="http://schemas.microsoft.com/office/drawing/2014/main" val="4070981645"/>
                    </a:ext>
                  </a:extLst>
                </a:gridCol>
                <a:gridCol w="2795639">
                  <a:extLst>
                    <a:ext uri="{9D8B030D-6E8A-4147-A177-3AD203B41FA5}">
                      <a16:colId xmlns:a16="http://schemas.microsoft.com/office/drawing/2014/main" val="1463846136"/>
                    </a:ext>
                  </a:extLst>
                </a:gridCol>
              </a:tblGrid>
              <a:tr h="3059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Tasks Performed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300" marR="58300" marT="29150" marB="29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300" marR="58300" marT="29150" marB="29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BI Features Used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300" marR="58300" marT="29150" marB="29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2691111"/>
                  </a:ext>
                </a:extLst>
              </a:tr>
              <a:tr h="735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Track Page Views and User Actions</a:t>
                      </a:r>
                    </a:p>
                  </a:txBody>
                  <a:tcPr marL="58300" marR="58300" marT="29150" marB="29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Monitored page visits and user interactions to understand usage patterns.</a:t>
                      </a:r>
                    </a:p>
                  </a:txBody>
                  <a:tcPr marL="58300" marR="58300" marT="29150" marB="29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DAX Measures</a:t>
                      </a:r>
                    </a:p>
                  </a:txBody>
                  <a:tcPr marL="58300" marR="58300" marT="29150" marB="29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826014"/>
                  </a:ext>
                </a:extLst>
              </a:tr>
              <a:tr h="905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User Navigation and Engagement</a:t>
                      </a:r>
                    </a:p>
                  </a:txBody>
                  <a:tcPr marL="58300" marR="58300" marT="29150" marB="29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Examined how users navigate through the website and app and measured engagement levels.</a:t>
                      </a:r>
                    </a:p>
                  </a:txBody>
                  <a:tcPr marL="58300" marR="58300" marT="29150" marB="29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Segmentation</a:t>
                      </a:r>
                    </a:p>
                  </a:txBody>
                  <a:tcPr marL="58300" marR="58300" marT="29150" marB="29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735054"/>
                  </a:ext>
                </a:extLst>
              </a:tr>
              <a:tr h="565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 New and Returning Users</a:t>
                      </a:r>
                    </a:p>
                  </a:txBody>
                  <a:tcPr marL="58300" marR="58300" marT="29150" marB="29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Identified differences in behavior between new and returning users.</a:t>
                      </a:r>
                    </a:p>
                  </a:txBody>
                  <a:tcPr marL="58300" marR="58300" marT="29150" marB="29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 By</a:t>
                      </a:r>
                    </a:p>
                  </a:txBody>
                  <a:tcPr marL="58300" marR="58300" marT="29150" marB="29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3485418"/>
                  </a:ext>
                </a:extLst>
              </a:tr>
              <a:tr h="565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Identify Major Traffic Sources</a:t>
                      </a:r>
                    </a:p>
                  </a:txBody>
                  <a:tcPr marL="58300" marR="58300" marT="29150" marB="29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Analyzed traffic channels to determine the main sources of users.</a:t>
                      </a:r>
                    </a:p>
                  </a:txBody>
                  <a:tcPr marL="58300" marR="58300" marT="29150" marB="29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Aggregation Functions</a:t>
                      </a:r>
                    </a:p>
                  </a:txBody>
                  <a:tcPr marL="58300" marR="58300" marT="29150" marB="29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298534"/>
                  </a:ext>
                </a:extLst>
              </a:tr>
              <a:tr h="905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 Conversions and Drop-off Points</a:t>
                      </a:r>
                    </a:p>
                  </a:txBody>
                  <a:tcPr marL="58300" marR="58300" marT="29150" marB="29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Evaluated conversion rates, exits, and user drop-off points to identify improvement areas.</a:t>
                      </a:r>
                    </a:p>
                  </a:txBody>
                  <a:tcPr marL="58300" marR="58300" marT="29150" marB="29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Analysis Techniques</a:t>
                      </a:r>
                    </a:p>
                  </a:txBody>
                  <a:tcPr marL="58300" marR="58300" marT="29150" marB="29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77908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6: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Visualizations to Identify Trends and Patterns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 flipV="1">
            <a:off x="-196644" y="1386348"/>
            <a:ext cx="1019604" cy="459386"/>
          </a:xfrm>
        </p:spPr>
        <p:txBody>
          <a:bodyPr/>
          <a:lstStyle/>
          <a:p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D2FC63-B1ED-EEEF-BE3E-333334B200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909179"/>
              </p:ext>
            </p:extLst>
          </p:nvPr>
        </p:nvGraphicFramePr>
        <p:xfrm>
          <a:off x="727587" y="1845971"/>
          <a:ext cx="7639173" cy="3856740"/>
        </p:xfrm>
        <a:graphic>
          <a:graphicData uri="http://schemas.openxmlformats.org/drawingml/2006/table">
            <a:tbl>
              <a:tblPr/>
              <a:tblGrid>
                <a:gridCol w="2546391">
                  <a:extLst>
                    <a:ext uri="{9D8B030D-6E8A-4147-A177-3AD203B41FA5}">
                      <a16:colId xmlns:a16="http://schemas.microsoft.com/office/drawing/2014/main" val="3912565924"/>
                    </a:ext>
                  </a:extLst>
                </a:gridCol>
                <a:gridCol w="2546391">
                  <a:extLst>
                    <a:ext uri="{9D8B030D-6E8A-4147-A177-3AD203B41FA5}">
                      <a16:colId xmlns:a16="http://schemas.microsoft.com/office/drawing/2014/main" val="4114271068"/>
                    </a:ext>
                  </a:extLst>
                </a:gridCol>
                <a:gridCol w="2546391">
                  <a:extLst>
                    <a:ext uri="{9D8B030D-6E8A-4147-A177-3AD203B41FA5}">
                      <a16:colId xmlns:a16="http://schemas.microsoft.com/office/drawing/2014/main" val="3948355166"/>
                    </a:ext>
                  </a:extLst>
                </a:gridCol>
              </a:tblGrid>
              <a:tr h="359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Tasks Performed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871" marR="55871" marT="27936" marB="279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871" marR="55871" marT="27936" marB="279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BI Features Used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871" marR="55871" marT="27936" marB="279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650440"/>
                  </a:ext>
                </a:extLst>
              </a:tr>
              <a:tr h="668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Visualize User </a:t>
                      </a:r>
                      <a:r>
                        <a:rPr lang="en-IN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</a:t>
                      </a: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Engagement</a:t>
                      </a:r>
                    </a:p>
                  </a:txBody>
                  <a:tcPr marL="55871" marR="55871" marT="27936" marB="279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Created charts and graphs to understand user activity and engagement patterns.</a:t>
                      </a:r>
                    </a:p>
                  </a:txBody>
                  <a:tcPr marL="55871" marR="55871" marT="27936" marB="279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Bar Charts, Line Charts</a:t>
                      </a:r>
                    </a:p>
                  </a:txBody>
                  <a:tcPr marL="55871" marR="55871" marT="27936" marB="279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736093"/>
                  </a:ext>
                </a:extLst>
              </a:tr>
              <a:tr h="668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 Different User Segments</a:t>
                      </a:r>
                    </a:p>
                  </a:txBody>
                  <a:tcPr marL="55871" marR="55871" marT="27936" marB="279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Analyzed and compared various user groups based on behavior and demographics.</a:t>
                      </a:r>
                    </a:p>
                  </a:txBody>
                  <a:tcPr marL="55871" marR="55871" marT="27936" marB="279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Pie/Donut Charts, Tables and Matrix Visuals</a:t>
                      </a:r>
                    </a:p>
                  </a:txBody>
                  <a:tcPr marL="55871" marR="55871" marT="27936" marB="279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3052781"/>
                  </a:ext>
                </a:extLst>
              </a:tr>
              <a:tr h="668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Track Website and App Performance Over Time</a:t>
                      </a:r>
                    </a:p>
                  </a:txBody>
                  <a:tcPr marL="55871" marR="55871" marT="27936" marB="279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Monitored changes in key metrics and performance trends over different periods.</a:t>
                      </a:r>
                    </a:p>
                  </a:txBody>
                  <a:tcPr marL="55871" marR="55871" marT="27936" marB="279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 Charts, KPI Cards</a:t>
                      </a:r>
                    </a:p>
                  </a:txBody>
                  <a:tcPr marL="55871" marR="55871" marT="27936" marB="279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9953611"/>
                  </a:ext>
                </a:extLst>
              </a:tr>
              <a:tr h="668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 Conversions and Traffic Sources</a:t>
                      </a:r>
                    </a:p>
                  </a:txBody>
                  <a:tcPr marL="55871" marR="55871" marT="27936" marB="279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Examined conversion rates and identified the effectiveness of various traffic channels.</a:t>
                      </a:r>
                    </a:p>
                  </a:txBody>
                  <a:tcPr marL="55871" marR="55871" marT="27936" marB="279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Funnel Charts, Bar Charts</a:t>
                      </a:r>
                    </a:p>
                  </a:txBody>
                  <a:tcPr marL="55871" marR="55871" marT="27936" marB="279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39414"/>
                  </a:ext>
                </a:extLst>
              </a:tr>
              <a:tr h="822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 Key Insights Through Visual Representations</a:t>
                      </a:r>
                    </a:p>
                  </a:txBody>
                  <a:tcPr marL="55871" marR="55871" marT="27936" marB="279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interactive visuals to communicate insights clearly and support decision-making.</a:t>
                      </a:r>
                    </a:p>
                  </a:txBody>
                  <a:tcPr marL="55871" marR="55871" marT="27936" marB="279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Slicers and Filters, KPI Cards</a:t>
                      </a:r>
                    </a:p>
                  </a:txBody>
                  <a:tcPr marL="55871" marR="55871" marT="27936" marB="279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48211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7: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Interactive Reports and Dashboards for Decision-Making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C31E21C-DE4F-1428-6E3A-0D91D7942C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1983166"/>
              </p:ext>
            </p:extLst>
          </p:nvPr>
        </p:nvGraphicFramePr>
        <p:xfrm>
          <a:off x="822959" y="1845975"/>
          <a:ext cx="8045310" cy="2952168"/>
        </p:xfrm>
        <a:graphic>
          <a:graphicData uri="http://schemas.openxmlformats.org/drawingml/2006/table">
            <a:tbl>
              <a:tblPr/>
              <a:tblGrid>
                <a:gridCol w="2681770">
                  <a:extLst>
                    <a:ext uri="{9D8B030D-6E8A-4147-A177-3AD203B41FA5}">
                      <a16:colId xmlns:a16="http://schemas.microsoft.com/office/drawing/2014/main" val="1434635727"/>
                    </a:ext>
                  </a:extLst>
                </a:gridCol>
                <a:gridCol w="2681770">
                  <a:extLst>
                    <a:ext uri="{9D8B030D-6E8A-4147-A177-3AD203B41FA5}">
                      <a16:colId xmlns:a16="http://schemas.microsoft.com/office/drawing/2014/main" val="277771745"/>
                    </a:ext>
                  </a:extLst>
                </a:gridCol>
                <a:gridCol w="2681770">
                  <a:extLst>
                    <a:ext uri="{9D8B030D-6E8A-4147-A177-3AD203B41FA5}">
                      <a16:colId xmlns:a16="http://schemas.microsoft.com/office/drawing/2014/main" val="3037561621"/>
                    </a:ext>
                  </a:extLst>
                </a:gridCol>
              </a:tblGrid>
              <a:tr h="36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Tasks Performed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50" marR="60950" marT="30475" marB="30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50" marR="60950" marT="30475" marB="30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BI Features Used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50" marR="60950" marT="30475" marB="30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410994"/>
                  </a:ext>
                </a:extLst>
              </a:tr>
              <a:tr h="843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Dashboard Pages</a:t>
                      </a:r>
                    </a:p>
                  </a:txBody>
                  <a:tcPr marL="60950" marR="60950" marT="30475" marB="30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Created multiple dashboard pages to present different aspects of website and app analytics.</a:t>
                      </a:r>
                    </a:p>
                  </a:txBody>
                  <a:tcPr marL="60950" marR="60950" marT="30475" marB="30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BI Dashboard</a:t>
                      </a:r>
                    </a:p>
                  </a:txBody>
                  <a:tcPr marL="60950" marR="60950" marT="30475" marB="30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048735"/>
                  </a:ext>
                </a:extLst>
              </a:tr>
              <a:tr h="527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Interactive Visuals and Filters</a:t>
                      </a:r>
                    </a:p>
                  </a:txBody>
                  <a:tcPr marL="60950" marR="60950" marT="30475" marB="30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Implemented interactive charts, slicers, and filters for dynamic analysis.</a:t>
                      </a:r>
                    </a:p>
                  </a:txBody>
                  <a:tcPr marL="60950" marR="60950" marT="30475" marB="30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KPI Cards, Slicers</a:t>
                      </a:r>
                    </a:p>
                  </a:txBody>
                  <a:tcPr marL="60950" marR="60950" marT="30475" marB="30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325265"/>
                  </a:ext>
                </a:extLst>
              </a:tr>
              <a:tr h="527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 Drill-Through Functionality</a:t>
                      </a:r>
                    </a:p>
                  </a:txBody>
                  <a:tcPr marL="60950" marR="60950" marT="30475" marB="30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Enabled users to explore detailed information from summary visuals.</a:t>
                      </a:r>
                    </a:p>
                  </a:txBody>
                  <a:tcPr marL="60950" marR="60950" marT="30475" marB="30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Drill Through</a:t>
                      </a:r>
                    </a:p>
                  </a:txBody>
                  <a:tcPr marL="60950" marR="60950" marT="30475" marB="30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1222013"/>
                  </a:ext>
                </a:extLst>
              </a:tr>
              <a:tr h="6853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Prepare Final Dashboard and Presentation</a:t>
                      </a:r>
                    </a:p>
                  </a:txBody>
                  <a:tcPr marL="60950" marR="60950" marT="30475" marB="30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Designed storytelling visuals and organized insights for effective decision-making.</a:t>
                      </a:r>
                    </a:p>
                  </a:txBody>
                  <a:tcPr marL="60950" marR="60950" marT="30475" marB="30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Bookmarks, Storytelling Visuals</a:t>
                      </a:r>
                    </a:p>
                  </a:txBody>
                  <a:tcPr marL="60950" marR="60950" marT="30475" marB="304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52933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B03DE04-5651-DD40-C3E7-5ADA1A87E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838" y="4668874"/>
            <a:ext cx="2939417" cy="16360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FA4796-6061-B668-9788-8A5B21629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8240" y="4668874"/>
            <a:ext cx="2939417" cy="16401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A14A63-4280-50D8-F1AC-5DBDAAB4D3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94" y="4668874"/>
            <a:ext cx="2947046" cy="16360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A08695-9EDD-AD55-A5A2-E4D71F4E6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45733"/>
            <a:ext cx="7757160" cy="43184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5A498-13AE-24BE-D881-AE745FC9B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62BE88-1FFA-7F0B-3BFF-2B90F2F57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36" y="943897"/>
            <a:ext cx="8620728" cy="480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9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D872AB-312A-478B-E43A-2ACDE2607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2" y="827776"/>
            <a:ext cx="8918250" cy="494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455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8FDAD6-D44D-C8F9-4AEB-83184EB96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61" y="830763"/>
            <a:ext cx="8807278" cy="496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947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7AFA34-9EF1-531C-8142-B08067B13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54" y="717631"/>
            <a:ext cx="8831892" cy="490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1815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1CE8042-E5EE-128A-0AC7-43A66C811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9" y="601884"/>
            <a:ext cx="8873290" cy="496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436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6B738-D92B-BF03-AECD-6F67E5075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97" y="286605"/>
            <a:ext cx="5035663" cy="1313596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Benefits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181621-DF72-27E3-65C3-E44497588C25}"/>
              </a:ext>
            </a:extLst>
          </p:cNvPr>
          <p:cNvSpPr txBox="1"/>
          <p:nvPr/>
        </p:nvSpPr>
        <p:spPr>
          <a:xfrm>
            <a:off x="875071" y="1858297"/>
            <a:ext cx="619432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Real-time monitoring of website performance.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• Better understanding of customer </a:t>
            </a:r>
            <a:r>
              <a:rPr lang="en-IN" dirty="0" err="1"/>
              <a:t>behavior</a:t>
            </a:r>
            <a:r>
              <a:rPr lang="en-IN" dirty="0"/>
              <a:t>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• Improved conversion tracking and analysis.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• Enhanced user engagement measurement.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• Effective demographic and geographic analysis.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• Faster reporting through interactive dashboards.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• Better business decision-making using visual analytics.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• Easy identification of trends and patterns.</a:t>
            </a:r>
          </a:p>
        </p:txBody>
      </p:sp>
    </p:spTree>
    <p:extLst>
      <p:ext uri="{BB962C8B-B14F-4D97-AF65-F5344CB8AC3E}">
        <p14:creationId xmlns:p14="http://schemas.microsoft.com/office/powerpoint/2010/main" val="3123634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E8CDA-C690-A4C6-F955-1D52E6C1B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431A9-318E-D842-FB5C-E7515ADB4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Dependency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is completely dependent on the quality and accuracy of the available dataset. Any missing or incorrect data can impact insights.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Data Analysis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historical data only. Future user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market trends cannot be predicted with certainty.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Data Sources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predefined website and app datasets. External factors such as competitor activity, market conditions, or customer feedback are not included.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Interpretation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dashboards show what users did but not always why they behaved in a certain way. Additional qualitative research may be required for deeper understanding.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Sample Dataset Constraints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based on a sample dataset for learning and analysis purposes.</a:t>
            </a:r>
          </a:p>
        </p:txBody>
      </p:sp>
    </p:spTree>
    <p:extLst>
      <p:ext uri="{BB962C8B-B14F-4D97-AF65-F5344CB8AC3E}">
        <p14:creationId xmlns:p14="http://schemas.microsoft.com/office/powerpoint/2010/main" val="39739057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A9570-C8C4-536D-E823-08D08BCDA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60FBD-0439-E2CB-59C0-DA4DD55DF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helps in understanding how users interact with websites and mobile applications.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clear and easy-to-understand insights through interactive dashboards.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helps identify trends, user preferences, and areas for improvement.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reports make it easier to monitor performance and support better decision-making.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enables organizations to enhance user experience and achieve business growth through effective use of data.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554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190</TotalTime>
  <Words>1349</Words>
  <Application>Microsoft Office PowerPoint</Application>
  <PresentationFormat>On-screen Show (4:3)</PresentationFormat>
  <Paragraphs>181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Retrospect</vt:lpstr>
      <vt:lpstr>Website and App Analytics Using Power BI</vt:lpstr>
      <vt:lpstr>Introduction</vt:lpstr>
      <vt:lpstr>Problem Statement</vt:lpstr>
      <vt:lpstr>Objectives</vt:lpstr>
      <vt:lpstr>Objective 1:Understand the Website and App Data Structure and Key Performance Metrics </vt:lpstr>
      <vt:lpstr>Objective 2:Pre-process and Clean the Data for Accurate Analysis</vt:lpstr>
      <vt:lpstr>Objective 3:Create Data Models and Establish Relationships Between Tables</vt:lpstr>
      <vt:lpstr>PowerPoint Presentation</vt:lpstr>
      <vt:lpstr>Objective 4:Create Calculated Fields and DAX Measures to Support Analysis</vt:lpstr>
      <vt:lpstr>PowerPoint Presentation</vt:lpstr>
      <vt:lpstr>Objective 5:Analyze User Behavior and Website/App Performance</vt:lpstr>
      <vt:lpstr>Objective 6:Create Visualizations to Identify Trends and Patterns</vt:lpstr>
      <vt:lpstr>Objective 7:Develop Interactive Reports and Dashboards for Decision-Making</vt:lpstr>
      <vt:lpstr>Dashboards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Benefits</vt:lpstr>
      <vt:lpstr>Limitations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Pearl Sethi</dc:creator>
  <cp:keywords/>
  <dc:description>generated using python-pptx</dc:description>
  <cp:lastModifiedBy>Pearl Sethi</cp:lastModifiedBy>
  <cp:revision>15</cp:revision>
  <dcterms:created xsi:type="dcterms:W3CDTF">2013-01-27T09:14:16Z</dcterms:created>
  <dcterms:modified xsi:type="dcterms:W3CDTF">2026-06-05T07:55:11Z</dcterms:modified>
  <cp:category/>
</cp:coreProperties>
</file>